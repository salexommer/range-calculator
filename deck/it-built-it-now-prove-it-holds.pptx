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25652b170_4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25652b170_4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Open. The tool already built something. The whole talk is about what you do next — proving it holds.</a:t>
            </a:r>
            <a:endParaRPr sz="900"/>
          </a:p>
        </p:txBody>
      </p:sp>
      <p:sp>
        <p:nvSpPr>
          <p:cNvPr id="56" name="Google Shape;56;g3f25652b170_4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9621825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9621825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25652b170_4_1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25652b170_4_1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The thesis. Building is now cheap. The judgment about whether to trust the output is the work.</a:t>
            </a:r>
            <a:endParaRPr sz="900"/>
          </a:p>
        </p:txBody>
      </p:sp>
      <p:sp>
        <p:nvSpPr>
          <p:cNvPr id="79" name="Google Shape;79;g3f25652b170_4_1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25652b170_4_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f25652b170_4_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Quick intro. I do this daily — design rollouts and build the tools. Credibility, then move on.</a:t>
            </a:r>
            <a:endParaRPr sz="900"/>
          </a:p>
        </p:txBody>
      </p:sp>
      <p:sp>
        <p:nvSpPr>
          <p:cNvPr id="85" name="Google Shape;85;g3f25652b170_4_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2575adb53_3_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2575adb53_3_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Warm-up poll. What's the most ambitious thing you've asked AI to do lately? Let the room place itself on the ladder, then read the result.</a:t>
            </a:r>
            <a:endParaRPr sz="900"/>
          </a:p>
        </p:txBody>
      </p:sp>
      <p:sp>
        <p:nvSpPr>
          <p:cNvPr id="98" name="Google Shape;98;g3f2575adb53_3_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S_API49961967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S_API49961967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575adb53_3_2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2575adb53_3_2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Name the spectrum. A year ago the skill was getting AI to do anything. Now building is free — the skill is knowing when to trust what it builds. Hand straight to the live build.</a:t>
            </a:r>
            <a:endParaRPr sz="900"/>
          </a:p>
        </p:txBody>
      </p:sp>
      <p:sp>
        <p:nvSpPr>
          <p:cNvPr id="130" name="Google Shape;130;g3f2575adb53_3_2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5652b170_4_2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25652b170_4_2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Hand off to the live demo. Read the prompt aloud, then the screen is the tool for a few minutes.</a:t>
            </a:r>
            <a:endParaRPr sz="900"/>
          </a:p>
        </p:txBody>
      </p:sp>
      <p:sp>
        <p:nvSpPr>
          <p:cNvPr id="146" name="Google Shape;146;g3f25652b170_4_2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5652b170_4_6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25652b170_4_6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Poll 4: stakes. A manager makes a real offer from this. Trust, verify, or don't ship? This is the verdict.</a:t>
            </a:r>
            <a:endParaRPr sz="900"/>
          </a:p>
        </p:txBody>
      </p:sp>
      <p:sp>
        <p:nvSpPr>
          <p:cNvPr id="156" name="Google Shape;156;g3f25652b170_4_6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SLIDES_API166736150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SLIDES_API166736150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5652b170_4_9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25652b170_4_9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Close. Encode the check once and it runs forever. Fork the skill. The takeaway: run the four questions on one output you'd have forwarded this week.</a:t>
            </a:r>
            <a:endParaRPr sz="900"/>
          </a:p>
        </p:txBody>
      </p:sp>
      <p:sp>
        <p:nvSpPr>
          <p:cNvPr id="182" name="Google Shape;182;g3f25652b170_4_9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25652b170_4_8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25652b170_4_8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The turn. Instead of checking by hand every time, I teach the agent to run the checks itself — a skill it applies before handing me a number.</a:t>
            </a:r>
            <a:endParaRPr sz="900"/>
          </a:p>
        </p:txBody>
      </p:sp>
      <p:sp>
        <p:nvSpPr>
          <p:cNvPr id="195" name="Google Shape;195;g3f25652b170_4_8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f3a544de3_1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ef3a544de3_1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Open. The tool already built something. The whole talk is about what you do next — proving it holds.</a:t>
            </a:r>
            <a:endParaRPr sz="900"/>
          </a:p>
        </p:txBody>
      </p:sp>
      <p:sp>
        <p:nvSpPr>
          <p:cNvPr id="206" name="Google Shape;206;g3ef3a544de3_1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Sm9pbg%3D%3D" TargetMode="External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2.png"/><Relationship Id="rId8" Type="http://schemas.openxmlformats.org/officeDocument/2006/relationships/hyperlink" Target="https://www.sli.do/features-google-slides?payload=eyJwcmVzZW50YXRpb25JZCI6IjFrQ05iazdBRFBxREM2Ulhzc3RNNl9MUy15NTVjVFd0VkJGelQzd1hEcm5ZIiwic2xpZGVJZCI6IlNMSURFU19BUEk5NjIxODI1MjdfMCIsInR5cGUiOiJTbGlkb0pvaW5pbmcifQ%3D%3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2.png"/><Relationship Id="rId8" Type="http://schemas.openxmlformats.org/officeDocument/2006/relationships/hyperlink" Target="https://www.sli.do/features-google-slides?payload=eyJwb2xsVXVpZCI6IjdmMjQwMjllLWU0YWItNDdmNC1hODBkLTg1ODk2ZGQwYzMwOSIsInByZXNlbnRhdGlvbklkIjoiMWtDTmJrN0FEUHFEQzZSWHNzdE02X0xTLXk1NWNUV3RWQkZ6VDN3WERyblkiLCJzbGlkZUlkIjoiU0xJREVTX0FQSTQ5OTYxOTY3N18wIiwidGltZWxpbmUiOlt7InNob3dSZXN1bHRzIjp0cnVlLCJwb2xsUXVlc3Rpb25VdWlkIjoiZGE0MzNiZGMtMzU4Ni00YWQzLTk3NWQtNmQ5MDZjYjczYTAwIn1dLCJ0eXBlIjoiU2xpZG9Qb2xsIn0%3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XVsdGlwbGVDaG9pY2U%3D" TargetMode="External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2.png"/><Relationship Id="rId8" Type="http://schemas.openxmlformats.org/officeDocument/2006/relationships/hyperlink" Target="https://www.sli.do/features-google-slides?payload=eyJwb2xsVXVpZCI6IjFjMDcwNGNjLTBkOWQtNGQ0MS04ZjM2LWU5ZjAyMGVjMGExYiIsInByZXNlbnRhdGlvbklkIjoiMWtDTmJrN0FEUHFEQzZSWHNzdE02X0xTLXk1NWNUV3RWQkZ6VDN3WERyblkiLCJzbGlkZUlkIjoiU0xJREVTX0FQSTE2NjczNjE1MDdfMCIsInRpbWVsaW5lIjpbeyJzaG93UmVzdWx0cyI6dHJ1ZSwicG9sbFF1ZXN0aW9uVXVpZCI6ImNiY2U0YWIyLWFlODQtNDY1Yi1iZTI3LTRiNDg4NTViMzIzNyJ9XSwidHlwZSI6IlNsaWRvUG9sbCJ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3E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3677394" y="1706315"/>
            <a:ext cx="1789200" cy="247800"/>
          </a:xfrm>
          <a:prstGeom prst="roundRect">
            <a:avLst>
              <a:gd fmla="val 50000" name="adj"/>
            </a:avLst>
          </a:prstGeom>
          <a:solidFill>
            <a:srgbClr val="F4E9C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3764857" y="1758702"/>
            <a:ext cx="1614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EXPERIMENTATION WITH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1138238" y="2220664"/>
            <a:ext cx="68676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4700"/>
              <a:buFont typeface="Georgia"/>
              <a:buNone/>
            </a:pPr>
            <a:r>
              <a:rPr b="1" i="0" lang="en" sz="4700" u="none" cap="none" strike="noStrike">
                <a:solidFill>
                  <a:srgbClr val="17191B"/>
                </a:solidFill>
                <a:latin typeface="Georgia"/>
                <a:ea typeface="Georgia"/>
                <a:cs typeface="Georgia"/>
                <a:sym typeface="Georgia"/>
              </a:rPr>
              <a:t>It Built It. Now Prove It </a:t>
            </a:r>
            <a:r>
              <a:rPr b="1" i="1" lang="en" sz="4700" u="none" cap="none" strike="noStrike">
                <a:solidFill>
                  <a:srgbClr val="2E7A66"/>
                </a:solidFill>
                <a:latin typeface="Georgia"/>
                <a:ea typeface="Georgia"/>
                <a:cs typeface="Georgia"/>
                <a:sym typeface="Georgia"/>
              </a:rPr>
              <a:t>Holds.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4092699" y="4583907"/>
            <a:ext cx="114300" cy="114300"/>
          </a:xfrm>
          <a:prstGeom prst="ellipse">
            <a:avLst/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4164137" y="4583907"/>
            <a:ext cx="114300" cy="114300"/>
          </a:xfrm>
          <a:prstGeom prst="ellipse">
            <a:avLst/>
          </a:prstGeom>
          <a:solidFill>
            <a:srgbClr val="D7A64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4319804" y="4557713"/>
            <a:ext cx="76633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900"/>
              <a:buFont typeface="Poppins"/>
              <a:buNone/>
            </a:pPr>
            <a:r>
              <a:rPr b="0" i="0" lang="en" sz="9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Alex ·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oll-type-id" id="70" name="Google Shape;70;p1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71" name="Google Shape;71;p17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Join at slido.com</a:t>
            </a:r>
            <a:b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#1352645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" name="Google Shape;7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75" name="Google Shape;75;p17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892969" y="1867719"/>
            <a:ext cx="7358063" cy="14270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3300"/>
              <a:buFont typeface="Playfair Display"/>
              <a:buNone/>
            </a:pPr>
            <a:r>
              <a:rPr b="0" i="0" lang="en" sz="33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tool can build almost anything now. The hard part moved from building to </a:t>
            </a:r>
            <a:r>
              <a:rPr b="0" i="1" lang="en" sz="3300" u="none" cap="none" strike="noStrike">
                <a:solidFill>
                  <a:srgbClr val="2E7A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thinking.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3E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>
            <a:off x="762000" y="1535014"/>
            <a:ext cx="1140172" cy="247650"/>
          </a:xfrm>
          <a:prstGeom prst="roundRect">
            <a:avLst>
              <a:gd fmla="val 50000" name="adj"/>
            </a:avLst>
          </a:prstGeom>
          <a:solidFill>
            <a:srgbClr val="F4E9C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/>
          <p:nvPr/>
        </p:nvSpPr>
        <p:spPr>
          <a:xfrm>
            <a:off x="876300" y="1587401"/>
            <a:ext cx="9496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WHO'S TALKING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762000" y="2011264"/>
            <a:ext cx="46769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3900"/>
              <a:buFont typeface="Playfair Display"/>
              <a:buNone/>
            </a:pPr>
            <a:r>
              <a:rPr b="1" i="0" lang="en" sz="39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Alexander Sommer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762000" y="2592289"/>
            <a:ext cx="4676976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A66"/>
              </a:buClr>
              <a:buSzPts val="1300"/>
              <a:buFont typeface="Poppins"/>
              <a:buNone/>
            </a:pPr>
            <a:r>
              <a:rPr b="0" i="0" lang="en" sz="1300" u="none" cap="none" strike="noStrike">
                <a:solidFill>
                  <a:srgbClr val="2E7A66"/>
                </a:solidFill>
                <a:latin typeface="Poppins"/>
                <a:ea typeface="Poppins"/>
                <a:cs typeface="Poppins"/>
                <a:sym typeface="Poppins"/>
              </a:rPr>
              <a:t>Founder, Gen-Metrics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762000" y="3101876"/>
            <a:ext cx="3728085" cy="5256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1400"/>
              <a:buFont typeface="Poppins"/>
              <a:buNone/>
            </a:pPr>
            <a:r>
              <a:rPr b="0" i="0" lang="en" sz="1400" u="none" cap="none" strike="noStrike">
                <a:solidFill>
                  <a:srgbClr val="17191B"/>
                </a:solidFill>
                <a:latin typeface="Poppins"/>
                <a:ea typeface="Poppins"/>
                <a:cs typeface="Poppins"/>
                <a:sym typeface="Poppins"/>
              </a:rPr>
              <a:t>I design AI rollouts and build these tools daily.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6572250" y="1666875"/>
            <a:ext cx="1809750" cy="1809750"/>
          </a:xfrm>
          <a:prstGeom prst="ellipse">
            <a:avLst/>
          </a:prstGeom>
          <a:solidFill>
            <a:srgbClr val="FAF6EE"/>
          </a:solidFill>
          <a:ln cap="flat" cmpd="sng" w="28575">
            <a:solidFill>
              <a:srgbClr val="8FD3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7234163" y="2507457"/>
            <a:ext cx="485849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700"/>
              <a:buFont typeface="Poppins"/>
              <a:buNone/>
            </a:pPr>
            <a:r>
              <a:rPr b="0" i="0" lang="en" sz="7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PORTRAIT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0" r="0" t="21728"/>
          <a:stretch/>
        </p:blipFill>
        <p:spPr>
          <a:xfrm>
            <a:off x="6572248" y="1637000"/>
            <a:ext cx="1809600" cy="1888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3E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762000" y="1436936"/>
            <a:ext cx="1124620" cy="247650"/>
          </a:xfrm>
          <a:prstGeom prst="roundRect">
            <a:avLst>
              <a:gd fmla="val 50000" name="adj"/>
            </a:avLst>
          </a:prstGeom>
          <a:solidFill>
            <a:srgbClr val="F4E9C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876300" y="1489323"/>
            <a:ext cx="93412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WARM-UP POLL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762000" y="1913186"/>
            <a:ext cx="4022408" cy="11504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2700"/>
              <a:buFont typeface="Playfair Display"/>
              <a:buNone/>
            </a:pPr>
            <a:r>
              <a:rPr b="0" i="0" lang="en" sz="27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What's the most ambitious thing you've asked AI to do </a:t>
            </a:r>
            <a:r>
              <a:rPr b="0" i="1" lang="en" sz="2700" u="none" cap="none" strike="noStrike">
                <a:solidFill>
                  <a:srgbClr val="2E7A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lately?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762000" y="3349377"/>
            <a:ext cx="1221582" cy="357188"/>
          </a:xfrm>
          <a:prstGeom prst="roundRect">
            <a:avLst>
              <a:gd fmla="val 50000" name="adj"/>
            </a:avLst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914400" y="3494633"/>
            <a:ext cx="66675" cy="66675"/>
          </a:xfrm>
          <a:prstGeom prst="ellipse">
            <a:avLst/>
          </a:prstGeom>
          <a:solidFill>
            <a:srgbClr val="2E7A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1057275" y="3439864"/>
            <a:ext cx="8120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1000"/>
              <a:buFont typeface="Poppins"/>
              <a:buNone/>
            </a:pPr>
            <a:r>
              <a:rPr b="1" i="0" lang="en" sz="1000" u="none" cap="none" strike="noStrike">
                <a:solidFill>
                  <a:srgbClr val="17191B"/>
                </a:solidFill>
                <a:latin typeface="Poppins"/>
                <a:ea typeface="Poppins"/>
                <a:cs typeface="Poppins"/>
                <a:sym typeface="Poppins"/>
              </a:rPr>
              <a:t>Vote in Slido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5429250" y="1674019"/>
            <a:ext cx="2952750" cy="381000"/>
          </a:xfrm>
          <a:prstGeom prst="roundRect">
            <a:avLst>
              <a:gd fmla="val 20000" name="adj"/>
            </a:avLst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5572125" y="1835944"/>
            <a:ext cx="57150" cy="57150"/>
          </a:xfrm>
          <a:prstGeom prst="ellipse">
            <a:avLst/>
          </a:prstGeom>
          <a:solidFill>
            <a:srgbClr val="D7A64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5715000" y="1774031"/>
            <a:ext cx="1974030" cy="1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1000"/>
              <a:buFont typeface="Poppins"/>
              <a:buNone/>
            </a:pPr>
            <a:r>
              <a:rPr b="1" i="0" lang="en" sz="1000" u="none" cap="none" strike="noStrike">
                <a:solidFill>
                  <a:srgbClr val="17191B"/>
                </a:solidFill>
                <a:latin typeface="Poppins"/>
                <a:ea typeface="Poppins"/>
                <a:cs typeface="Poppins"/>
                <a:sym typeface="Poppins"/>
              </a:rPr>
              <a:t>Build or automate something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5734050" y="2140744"/>
            <a:ext cx="2647950" cy="385763"/>
          </a:xfrm>
          <a:prstGeom prst="roundRect">
            <a:avLst>
              <a:gd fmla="val 19753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5881688" y="2240757"/>
            <a:ext cx="2432113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000"/>
              <a:buFont typeface="Poppins"/>
              <a:buNone/>
            </a:pPr>
            <a:r>
              <a:rPr b="0" i="0" lang="en" sz="10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Think a problem through with 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6038850" y="2612232"/>
            <a:ext cx="2343150" cy="385763"/>
          </a:xfrm>
          <a:prstGeom prst="roundRect">
            <a:avLst>
              <a:gd fmla="val 19753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6186488" y="2712244"/>
            <a:ext cx="2118170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000"/>
              <a:buFont typeface="Poppins"/>
              <a:buNone/>
            </a:pPr>
            <a:r>
              <a:rPr b="0" i="0" lang="en" sz="10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Draft something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6343650" y="3083719"/>
            <a:ext cx="2038350" cy="385763"/>
          </a:xfrm>
          <a:prstGeom prst="roundRect">
            <a:avLst>
              <a:gd fmla="val 19753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6491288" y="3183732"/>
            <a:ext cx="1804226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000"/>
              <a:buFont typeface="Poppins"/>
              <a:buNone/>
            </a:pPr>
            <a:r>
              <a:rPr b="0" i="0" lang="en" sz="10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Find or look something 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oll-type-id" id="121" name="Google Shape;121;p2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122" name="Google Shape;122;p21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What's the most ambitious thing you've asked AI to do lately?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126" name="Google Shape;126;p21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714375" y="1422202"/>
            <a:ext cx="1256184" cy="247650"/>
          </a:xfrm>
          <a:prstGeom prst="roundRect">
            <a:avLst>
              <a:gd fmla="val 50000" name="adj"/>
            </a:avLst>
          </a:prstGeom>
          <a:solidFill>
            <a:srgbClr val="E6F3E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828675" y="1474589"/>
            <a:ext cx="106568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A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2E7A66"/>
                </a:solidFill>
                <a:latin typeface="Poppins"/>
                <a:ea typeface="Poppins"/>
                <a:cs typeface="Poppins"/>
                <a:sym typeface="Poppins"/>
              </a:rPr>
              <a:t>THE AI SPECTRUM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714375" y="1898452"/>
            <a:ext cx="3851180" cy="18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2500"/>
              <a:buFont typeface="Playfair Display"/>
              <a:buNone/>
            </a:pPr>
            <a:r>
              <a:rPr b="0" i="0" lang="en" sz="25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Building used to be the skill. Now building is free — the skill is knowing when to </a:t>
            </a:r>
            <a:r>
              <a:rPr b="0" i="1" lang="en" sz="2500" u="none" cap="none" strike="noStrike">
                <a:solidFill>
                  <a:srgbClr val="2E7A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trust </a:t>
            </a:r>
            <a:r>
              <a:rPr b="0" i="0" lang="en" sz="25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it builds.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4980682" y="2717007"/>
            <a:ext cx="714375" cy="333375"/>
          </a:xfrm>
          <a:prstGeom prst="roundRect">
            <a:avLst>
              <a:gd fmla="val 20000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4941194" y="3136106"/>
            <a:ext cx="7934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Search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5803330" y="2431257"/>
            <a:ext cx="714375" cy="619125"/>
          </a:xfrm>
          <a:prstGeom prst="roundRect">
            <a:avLst>
              <a:gd fmla="val 10769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5906691" y="3136106"/>
            <a:ext cx="507579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First draft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6671965" y="2145507"/>
            <a:ext cx="714375" cy="904875"/>
          </a:xfrm>
          <a:prstGeom prst="roundRect">
            <a:avLst>
              <a:gd fmla="val 9333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6581809" y="3136106"/>
            <a:ext cx="894762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Thinking partner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7627963" y="1859756"/>
            <a:ext cx="714375" cy="1190625"/>
          </a:xfrm>
          <a:prstGeom prst="roundRect">
            <a:avLst>
              <a:gd fmla="val 9333" name="adj"/>
            </a:avLst>
          </a:prstGeom>
          <a:solidFill>
            <a:srgbClr val="8FD3BE"/>
          </a:solidFill>
          <a:ln cap="flat" cmpd="sng" w="9525">
            <a:solidFill>
              <a:srgbClr val="8FD3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496227" y="3136106"/>
            <a:ext cx="977846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800"/>
              <a:buFont typeface="Poppins"/>
              <a:buNone/>
            </a:pPr>
            <a:r>
              <a:rPr b="1" i="0" lang="en" sz="800" u="none" cap="none" strike="noStrike">
                <a:solidFill>
                  <a:srgbClr val="17191B"/>
                </a:solidFill>
                <a:latin typeface="Poppins"/>
                <a:ea typeface="Poppins"/>
                <a:cs typeface="Poppins"/>
                <a:sym typeface="Poppins"/>
              </a:rPr>
              <a:t>Build &amp; automate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E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4151784" y="1302544"/>
            <a:ext cx="840432" cy="247650"/>
          </a:xfrm>
          <a:prstGeom prst="roundRect">
            <a:avLst>
              <a:gd fmla="val 50000" name="adj"/>
            </a:avLst>
          </a:prstGeom>
          <a:solidFill>
            <a:srgbClr val="E6F3E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/>
          <p:nvPr/>
        </p:nvSpPr>
        <p:spPr>
          <a:xfrm>
            <a:off x="4247034" y="1354932"/>
            <a:ext cx="6499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A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2E7A66"/>
                </a:solidFill>
                <a:latin typeface="Poppins"/>
                <a:ea typeface="Poppins"/>
                <a:cs typeface="Poppins"/>
                <a:sym typeface="Poppins"/>
              </a:rPr>
              <a:t>LIVE BUILD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1524000" y="1854994"/>
            <a:ext cx="6096000" cy="1533525"/>
          </a:xfrm>
          <a:prstGeom prst="roundRect">
            <a:avLst>
              <a:gd fmla="val 9938" name="adj"/>
            </a:avLst>
          </a:prstGeom>
          <a:solidFill>
            <a:srgbClr val="FFFFFF"/>
          </a:solidFill>
          <a:ln cap="flat" cmpd="sng" w="9525">
            <a:solidFill>
              <a:srgbClr val="E7DFC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2E7A66">
                <a:alpha val="7843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1908382" y="2240757"/>
            <a:ext cx="532723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2400"/>
              <a:buFont typeface="Playfair Display"/>
              <a:buNone/>
            </a:pPr>
            <a:r>
              <a:rPr b="0" i="1" lang="en" sz="24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"Build me a salary benchmark: Senior Comp Analyst, London."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3007087" y="3655219"/>
            <a:ext cx="3129826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000"/>
              <a:buFont typeface="Poppins"/>
              <a:buNone/>
            </a:pPr>
            <a:r>
              <a:rPr b="0" i="0" lang="en" sz="10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The tool is the screen for the next few minutes.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3E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/>
          <p:nvPr/>
        </p:nvSpPr>
        <p:spPr>
          <a:xfrm>
            <a:off x="762000" y="1508001"/>
            <a:ext cx="923032" cy="247650"/>
          </a:xfrm>
          <a:prstGeom prst="roundRect">
            <a:avLst>
              <a:gd fmla="val 50000" name="adj"/>
            </a:avLst>
          </a:prstGeom>
          <a:solidFill>
            <a:srgbClr val="F4E9C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876300" y="1560389"/>
            <a:ext cx="732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POLL 4 OF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762000" y="1984251"/>
            <a:ext cx="5886450" cy="96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3500"/>
              <a:buFont typeface="Playfair Display"/>
              <a:buNone/>
            </a:pPr>
            <a:r>
              <a:rPr b="1" i="0" lang="en" sz="35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manager sets a real offer from this. Your </a:t>
            </a:r>
            <a:r>
              <a:rPr b="1" i="1" lang="en" sz="3500" u="none" cap="none" strike="noStrike">
                <a:solidFill>
                  <a:srgbClr val="2E7A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call?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762000" y="3235449"/>
            <a:ext cx="786259" cy="400050"/>
          </a:xfrm>
          <a:prstGeom prst="roundRect">
            <a:avLst>
              <a:gd fmla="val 50000" name="adj"/>
            </a:avLst>
          </a:prstGeom>
          <a:solidFill>
            <a:srgbClr val="FAF6EE"/>
          </a:solidFill>
          <a:ln cap="flat" cmpd="sng" w="9525">
            <a:solidFill>
              <a:srgbClr val="C9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976313" y="3325937"/>
            <a:ext cx="3957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100"/>
              <a:buFont typeface="Poppins"/>
              <a:buNone/>
            </a:pPr>
            <a:r>
              <a:rPr b="0" i="0" lang="en" sz="11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1662559" y="3235449"/>
            <a:ext cx="842070" cy="400050"/>
          </a:xfrm>
          <a:prstGeom prst="roundRect">
            <a:avLst>
              <a:gd fmla="val 50000" name="adj"/>
            </a:avLst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1872109" y="3321174"/>
            <a:ext cx="4610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1100"/>
              <a:buFont typeface="Poppins"/>
              <a:buNone/>
            </a:pPr>
            <a:r>
              <a:rPr b="1" i="0" lang="en" sz="1100" u="none" cap="none" strike="noStrike">
                <a:solidFill>
                  <a:srgbClr val="17191B"/>
                </a:solidFill>
                <a:latin typeface="Poppins"/>
                <a:ea typeface="Poppins"/>
                <a:cs typeface="Poppins"/>
                <a:sym typeface="Poppins"/>
              </a:rPr>
              <a:t>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2618928" y="3235449"/>
            <a:ext cx="1133401" cy="400050"/>
          </a:xfrm>
          <a:prstGeom prst="roundRect">
            <a:avLst>
              <a:gd fmla="val 50000" name="adj"/>
            </a:avLst>
          </a:prstGeom>
          <a:solidFill>
            <a:srgbClr val="17191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2828478" y="3321174"/>
            <a:ext cx="75240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6EE"/>
              </a:buClr>
              <a:buSzPts val="1100"/>
              <a:buFont typeface="Poppins"/>
              <a:buNone/>
            </a:pPr>
            <a:r>
              <a:rPr b="1" i="0" lang="en" sz="1100" u="none" cap="none" strike="noStrike">
                <a:solidFill>
                  <a:srgbClr val="FAF6EE"/>
                </a:solidFill>
                <a:latin typeface="Poppins"/>
                <a:ea typeface="Poppins"/>
                <a:cs typeface="Poppins"/>
                <a:sym typeface="Poppins"/>
              </a:rPr>
              <a:t>Don't 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oll-type-id" id="173" name="Google Shape;173;p2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174" name="Google Shape;174;p25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 manager sets a real offer from this. Your call?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178" name="Google Shape;178;p25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3E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892969" y="1392213"/>
            <a:ext cx="7358063" cy="10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3600"/>
              <a:buFont typeface="Playfair Display"/>
              <a:buNone/>
            </a:pPr>
            <a:r>
              <a:rPr b="1" i="0" lang="en" sz="36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Encode the check </a:t>
            </a:r>
            <a:r>
              <a:rPr b="1" i="1" lang="en" sz="3600" u="none" cap="none" strike="noStrike">
                <a:solidFill>
                  <a:srgbClr val="2E7A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once. </a:t>
            </a:r>
            <a:r>
              <a:rPr b="1" lang="en" sz="3600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Let’s make the</a:t>
            </a:r>
            <a:r>
              <a:rPr b="1" i="0" lang="en" sz="36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agent run it </a:t>
            </a:r>
            <a:r>
              <a:rPr b="1" i="1" lang="en" sz="3600">
                <a:solidFill>
                  <a:srgbClr val="D7A64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since</a:t>
            </a:r>
            <a:r>
              <a:rPr b="1" i="1" lang="en" sz="3600" u="none" cap="none" strike="noStrike">
                <a:solidFill>
                  <a:srgbClr val="D7A64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3335462" y="2722588"/>
            <a:ext cx="2473077" cy="428625"/>
          </a:xfrm>
          <a:prstGeom prst="roundRect">
            <a:avLst>
              <a:gd fmla="val 50000" name="adj"/>
            </a:avLst>
          </a:prstGeom>
          <a:solidFill>
            <a:srgbClr val="17191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3564062" y="2889275"/>
            <a:ext cx="95250" cy="95250"/>
          </a:xfrm>
          <a:prstGeom prst="ellipse">
            <a:avLst/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3625974" y="2889275"/>
            <a:ext cx="95250" cy="95250"/>
          </a:xfrm>
          <a:prstGeom prst="ellipse">
            <a:avLst/>
          </a:prstGeom>
          <a:solidFill>
            <a:srgbClr val="D7A64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3797424" y="2832125"/>
            <a:ext cx="1835990" cy="223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6EE"/>
              </a:buClr>
              <a:buSzPts val="1100"/>
              <a:buFont typeface="Poppins"/>
              <a:buNone/>
            </a:pPr>
            <a:r>
              <a:rPr b="1" i="0" lang="en" sz="1100" u="none" cap="none" strike="noStrike">
                <a:solidFill>
                  <a:srgbClr val="FAF6EE"/>
                </a:solidFill>
                <a:latin typeface="Poppins"/>
                <a:ea typeface="Poppins"/>
                <a:cs typeface="Poppins"/>
                <a:sym typeface="Poppins"/>
              </a:rPr>
              <a:t>Fork comp-claim-check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2119313" y="3379813"/>
            <a:ext cx="49053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000"/>
              <a:buFont typeface="Poppins"/>
              <a:buNone/>
            </a:pPr>
            <a:r>
              <a:rPr b="0" i="0" lang="en" sz="10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Try this week: take one AI output you'd have forwarded, and run the four questions on it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4479132" y="4610100"/>
            <a:ext cx="114300" cy="114300"/>
          </a:xfrm>
          <a:prstGeom prst="ellipse">
            <a:avLst/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4550569" y="4610100"/>
            <a:ext cx="114300" cy="114300"/>
          </a:xfrm>
          <a:prstGeom prst="ellipse">
            <a:avLst/>
          </a:prstGeom>
          <a:solidFill>
            <a:srgbClr val="D7A64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E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4151784" y="1376884"/>
            <a:ext cx="840432" cy="247650"/>
          </a:xfrm>
          <a:prstGeom prst="roundRect">
            <a:avLst>
              <a:gd fmla="val 50000" name="adj"/>
            </a:avLst>
          </a:prstGeom>
          <a:solidFill>
            <a:srgbClr val="E6F3E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4247034" y="1429271"/>
            <a:ext cx="6499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A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2E7A66"/>
                </a:solidFill>
                <a:latin typeface="Poppins"/>
                <a:ea typeface="Poppins"/>
                <a:cs typeface="Poppins"/>
                <a:sym typeface="Poppins"/>
              </a:rPr>
              <a:t>LIVE BUILD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1138238" y="1929334"/>
            <a:ext cx="6867525" cy="899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3200"/>
              <a:buFont typeface="Playfair Display"/>
              <a:buNone/>
            </a:pPr>
            <a:r>
              <a:rPr b="1" i="0" lang="en" sz="32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Now I </a:t>
            </a:r>
            <a:r>
              <a:rPr b="1" lang="en" sz="3200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schedule</a:t>
            </a:r>
            <a:r>
              <a:rPr b="1" i="0" lang="en" sz="3200" u="none" cap="none" strike="noStrike">
                <a:solidFill>
                  <a:srgbClr val="1719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 agent to run these checks </a:t>
            </a:r>
            <a:r>
              <a:rPr b="1" i="1" lang="en" sz="3200" u="none" cap="none" strike="noStrike">
                <a:solidFill>
                  <a:srgbClr val="2E7A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me.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3822427" y="3076054"/>
            <a:ext cx="1499146" cy="276225"/>
          </a:xfrm>
          <a:prstGeom prst="roundRect">
            <a:avLst>
              <a:gd fmla="val 2069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3933290" y="3142729"/>
            <a:ext cx="127742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3B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comp-claim-check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2544522" y="3580879"/>
            <a:ext cx="4054956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1000"/>
              <a:buFont typeface="Poppins"/>
              <a:buNone/>
            </a:pPr>
            <a:r>
              <a:rPr b="0" i="0" lang="en" sz="10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A skill the agent runs on itself, before it hands me a number.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3E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/>
          <p:nvPr/>
        </p:nvSpPr>
        <p:spPr>
          <a:xfrm>
            <a:off x="3677394" y="1706315"/>
            <a:ext cx="1789200" cy="247800"/>
          </a:xfrm>
          <a:prstGeom prst="roundRect">
            <a:avLst>
              <a:gd fmla="val 50000" name="adj"/>
            </a:avLst>
          </a:prstGeom>
          <a:solidFill>
            <a:srgbClr val="F4E9C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3764857" y="1758702"/>
            <a:ext cx="1614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800"/>
              <a:buFont typeface="Poppins"/>
              <a:buNone/>
            </a:pPr>
            <a:r>
              <a:rPr b="0" i="0" lang="en" sz="8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EXPERIMENTATION WITH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1138238" y="2220664"/>
            <a:ext cx="68676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7191B"/>
              </a:buClr>
              <a:buSzPts val="4700"/>
              <a:buFont typeface="Georgia"/>
              <a:buNone/>
            </a:pPr>
            <a:r>
              <a:rPr b="1" i="0" lang="en" sz="4700" u="none" cap="none" strike="noStrike">
                <a:solidFill>
                  <a:srgbClr val="17191B"/>
                </a:solidFill>
                <a:latin typeface="Georgia"/>
                <a:ea typeface="Georgia"/>
                <a:cs typeface="Georgia"/>
                <a:sym typeface="Georgia"/>
              </a:rPr>
              <a:t>It Built It. Now Prove It </a:t>
            </a:r>
            <a:r>
              <a:rPr b="1" i="1" lang="en" sz="4700" u="none" cap="none" strike="noStrike">
                <a:solidFill>
                  <a:srgbClr val="2E7A66"/>
                </a:solidFill>
                <a:latin typeface="Georgia"/>
                <a:ea typeface="Georgia"/>
                <a:cs typeface="Georgia"/>
                <a:sym typeface="Georgia"/>
              </a:rPr>
              <a:t>Holds.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4092699" y="4583907"/>
            <a:ext cx="114300" cy="114300"/>
          </a:xfrm>
          <a:prstGeom prst="ellipse">
            <a:avLst/>
          </a:prstGeom>
          <a:solidFill>
            <a:srgbClr val="8FD3B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4164137" y="4583907"/>
            <a:ext cx="114300" cy="114300"/>
          </a:xfrm>
          <a:prstGeom prst="ellipse">
            <a:avLst/>
          </a:prstGeom>
          <a:solidFill>
            <a:srgbClr val="D7A64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4319804" y="4557713"/>
            <a:ext cx="766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6"/>
              </a:buClr>
              <a:buSzPts val="900"/>
              <a:buFont typeface="Poppins"/>
              <a:buNone/>
            </a:pPr>
            <a:r>
              <a:rPr b="0" i="0" lang="en" sz="900" u="none" cap="none" strike="noStrike">
                <a:solidFill>
                  <a:srgbClr val="5A6066"/>
                </a:solidFill>
                <a:latin typeface="Poppins"/>
                <a:ea typeface="Poppins"/>
                <a:cs typeface="Poppins"/>
                <a:sym typeface="Poppins"/>
              </a:rPr>
              <a:t>Alex ·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